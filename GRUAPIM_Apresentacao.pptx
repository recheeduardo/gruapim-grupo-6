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20C5B7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97680"/>
            <a:ext cx="4114800" cy="4114800"/>
          </a:xfrm>
          <a:prstGeom prst="ellipse">
            <a:avLst/>
          </a:prstGeom>
          <a:solidFill>
            <a:srgbClr val="2E8BC0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43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0C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SOFTWARE · GRUPO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GRUAPIM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41248" y="2788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D6E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</a:t>
            </a:r>
            <a:pPr indent="0" marL="0">
              <a:buNone/>
            </a:pPr>
            <a:r>
              <a:rPr lang="en-US" sz="3400" b="1" i="1" dirty="0">
                <a:solidFill>
                  <a:srgbClr val="20C5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Monólito</a:t>
            </a:r>
            <a:pPr indent="0" marL="0">
              <a:buNone/>
            </a:pPr>
            <a:r>
              <a:rPr lang="en-US" sz="3400" i="1" dirty="0">
                <a:solidFill>
                  <a:srgbClr val="D6E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 </a:t>
            </a:r>
            <a:pPr indent="0" marL="0">
              <a:buNone/>
            </a:pPr>
            <a:r>
              <a:rPr lang="en-US" sz="3400" b="1" i="1" dirty="0">
                <a:solidFill>
                  <a:srgbClr val="20C5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Microsserviços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41248" y="36576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uma plataforma de gestão Scrum foi dividida em serviços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independentes — explicado de forma simples.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41248" y="50749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63A5B"/>
          </a:solidFill>
          <a:ln w="12700">
            <a:solidFill>
              <a:srgbClr val="20C5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5074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serviços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60320" y="5074920"/>
            <a:ext cx="1778508" cy="457200"/>
          </a:xfrm>
          <a:prstGeom prst="roundRect">
            <a:avLst>
              <a:gd name="adj" fmla="val 50000"/>
            </a:avLst>
          </a:prstGeom>
          <a:solidFill>
            <a:srgbClr val="163A5B"/>
          </a:solidFill>
          <a:ln w="12700">
            <a:solidFill>
              <a:srgbClr val="20C5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5074920"/>
            <a:ext cx="1778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Strangler Fig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94860" y="5074920"/>
            <a:ext cx="1673352" cy="457200"/>
          </a:xfrm>
          <a:prstGeom prst="roundRect">
            <a:avLst>
              <a:gd name="adj" fmla="val 50000"/>
            </a:avLst>
          </a:prstGeom>
          <a:solidFill>
            <a:srgbClr val="163A5B"/>
          </a:solidFill>
          <a:ln w="12700">
            <a:solidFill>
              <a:srgbClr val="20C5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4860" y="507492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24244" y="50749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63A5B"/>
          </a:solidFill>
          <a:ln w="12700">
            <a:solidFill>
              <a:srgbClr val="20C5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24244" y="5074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real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20C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DE PARTIDA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04672" y="84124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GRUAPIM?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plataforma de gestão de projetos no estilo Scrum</a:t>
            </a:r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pense num Trello ou Jira simplificado.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equipe cria projetos, escreve histórias de usuário, organiza sprints, move tarefas num quadro Kanban, conversa por chat e recebe notificações.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4526280"/>
            <a:ext cx="5669280" cy="1417320"/>
          </a:xfrm>
          <a:prstGeom prst="roundRect">
            <a:avLst>
              <a:gd name="adj" fmla="val 6452"/>
            </a:avLst>
          </a:prstGeom>
          <a:solidFill>
            <a:srgbClr val="EAF2F8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47091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foco do trabalho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50292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o produto em si — é a </a:t>
            </a:r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como o sistema saiu de um bloco único para blocos independentes.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03720" y="1965960"/>
            <a:ext cx="4480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04888" y="2176272"/>
            <a:ext cx="457200" cy="457200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5472" y="2276856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0" y="209397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&amp; equipes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772400" y="2423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 com papéis (PO, SM, Dev)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903720" y="2990088"/>
            <a:ext cx="4480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104888" y="3200400"/>
            <a:ext cx="457200" cy="457200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472" y="3300984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772400" y="311810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&amp; Sprints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772400" y="34472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Histórias, prioridades e ciclos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903720" y="4014216"/>
            <a:ext cx="4480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104888" y="4224528"/>
            <a:ext cx="457200" cy="457200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4325112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772400" y="414223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Kanban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7772400" y="447141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movem entre colunas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903720" y="5038344"/>
            <a:ext cx="4480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104888" y="5248656"/>
            <a:ext cx="457200" cy="457200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472" y="5349240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772400" y="51663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&amp; Notificações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7772400" y="549554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em tempo real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20C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CENTRAL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04672" y="8412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história que você vai contar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383280" cy="2697480"/>
          </a:xfrm>
          <a:prstGeom prst="roundRect">
            <a:avLst>
              <a:gd name="adj" fmla="val 3390"/>
            </a:avLst>
          </a:prstGeom>
          <a:solidFill>
            <a:srgbClr val="163A5B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57400" y="2286000"/>
            <a:ext cx="914400" cy="914400"/>
          </a:xfrm>
          <a:prstGeom prst="ellipse">
            <a:avLst/>
          </a:prstGeom>
          <a:solidFill>
            <a:srgbClr val="0F2A43"/>
          </a:solidFill>
          <a:ln w="19050">
            <a:solidFill>
              <a:srgbClr val="20C5B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7712" y="249631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337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Monólito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143000" y="37490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num programa só, com um banco de dados só. Funcionava — mas difícil de escalar e evoluir.</a:t>
            </a:r>
            <a:endParaRPr lang="en-US" sz="13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56" y="3113532"/>
            <a:ext cx="310896" cy="31089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73168" y="1920240"/>
            <a:ext cx="3383280" cy="2697480"/>
          </a:xfrm>
          <a:prstGeom prst="roundRect">
            <a:avLst>
              <a:gd name="adj" fmla="val 3390"/>
            </a:avLst>
          </a:prstGeom>
          <a:solidFill>
            <a:srgbClr val="163A5B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007608" y="2286000"/>
            <a:ext cx="914400" cy="914400"/>
          </a:xfrm>
          <a:prstGeom prst="ellipse">
            <a:avLst/>
          </a:prstGeom>
          <a:solidFill>
            <a:srgbClr val="0F2A43"/>
          </a:solidFill>
          <a:ln w="19050">
            <a:solidFill>
              <a:srgbClr val="20C5B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496312"/>
            <a:ext cx="493776" cy="4937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47488" y="3337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Separação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5093208" y="37490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parte de comunicação (chat e notificações) foi recortada para um serviço próprio.</a:t>
            </a:r>
            <a:endParaRPr lang="en-US" sz="13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4" y="3113532"/>
            <a:ext cx="310896" cy="31089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723376" y="1920240"/>
            <a:ext cx="3383280" cy="2697480"/>
          </a:xfrm>
          <a:prstGeom prst="roundRect">
            <a:avLst>
              <a:gd name="adj" fmla="val 3390"/>
            </a:avLst>
          </a:prstGeom>
          <a:solidFill>
            <a:srgbClr val="163A5B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9957816" y="2286000"/>
            <a:ext cx="914400" cy="914400"/>
          </a:xfrm>
          <a:prstGeom prst="ellipse">
            <a:avLst/>
          </a:prstGeom>
          <a:solidFill>
            <a:srgbClr val="0F2A43"/>
          </a:solidFill>
          <a:ln w="19050">
            <a:solidFill>
              <a:srgbClr val="20C5B7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8128" y="2496312"/>
            <a:ext cx="493776" cy="49377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997696" y="3337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Microsserviços</a:t>
            </a:r>
            <a:endParaRPr lang="en-US" sz="1900" dirty="0"/>
          </a:p>
        </p:txBody>
      </p:sp>
      <p:sp>
        <p:nvSpPr>
          <p:cNvPr id="20" name="Text 13"/>
          <p:cNvSpPr/>
          <p:nvPr/>
        </p:nvSpPr>
        <p:spPr>
          <a:xfrm>
            <a:off x="9043416" y="37490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são 3 serviços independentes, conversando de forma segura e desacoplada.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822960" y="4983480"/>
            <a:ext cx="10561320" cy="1143000"/>
          </a:xfrm>
          <a:prstGeom prst="roundRect">
            <a:avLst/>
          </a:prstGeom>
          <a:solidFill>
            <a:srgbClr val="20C5B7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5285232"/>
            <a:ext cx="548640" cy="54864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920240" y="5074920"/>
            <a:ext cx="9235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Strangler Fig Pattern:  </a:t>
            </a:r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0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tiramos o pedaço aos poucos, sem nunca derrubar o sistema (nada de “big-bang”).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20C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JUSTIFICATIVA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04672" y="84124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separar justamente o chat?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383280" cy="36118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2423160"/>
            <a:ext cx="868680" cy="868680"/>
          </a:xfrm>
          <a:prstGeom prst="ellipse">
            <a:avLst/>
          </a:prstGeom>
          <a:solidFill>
            <a:srgbClr val="2E8BC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464" y="2660904"/>
            <a:ext cx="393192" cy="393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3474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 diferente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88720" y="4023360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chat usa conexões abertas o tempo todo (tempo real). O resto é requisição-resposta normal. Separar permite reforçar só o chat quando precisar.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17720" y="2011680"/>
            <a:ext cx="3383280" cy="36118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83480" y="2423160"/>
            <a:ext cx="868680" cy="868680"/>
          </a:xfrm>
          <a:prstGeom prst="ellipse">
            <a:avLst/>
          </a:prstGeom>
          <a:solidFill>
            <a:srgbClr val="20C5B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1224" y="2660904"/>
            <a:ext cx="393192" cy="3931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83480" y="3474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Criticidade diferente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983480" y="4023360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e Sprints são o coração do produto. Chat é apoio. Se o chat cair, a equipe ainda move cards e fecha tarefas — degradação graciosa.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412480" y="2011680"/>
            <a:ext cx="3383280" cy="36118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778240" y="2423160"/>
            <a:ext cx="868680" cy="868680"/>
          </a:xfrm>
          <a:prstGeom prst="ellipse">
            <a:avLst/>
          </a:prstGeom>
          <a:solidFill>
            <a:srgbClr val="E0A23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5984" y="2660904"/>
            <a:ext cx="393192" cy="3931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78240" y="3474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Muda muito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778240" y="4023360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de chat mudam toda hora (menções, reações). Isolar evita recompilar e reiniciar o sistema inteiro a cada ajuste.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20C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MAPA DO SISTEMA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04672" y="84124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3 serviços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404208" y="1783080"/>
            <a:ext cx="3383280" cy="640080"/>
          </a:xfrm>
          <a:prstGeom prst="roundRect">
            <a:avLst>
              <a:gd name="adj" fmla="val 14286"/>
            </a:avLst>
          </a:prstGeom>
          <a:solidFill>
            <a:srgbClr val="1B2A3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8528" y="19202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90008" y="1783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Web (React)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095848" y="2423160"/>
            <a:ext cx="0" cy="365760"/>
          </a:xfrm>
          <a:prstGeom prst="line">
            <a:avLst/>
          </a:prstGeom>
          <a:noFill/>
          <a:ln w="19050">
            <a:solidFill>
              <a:srgbClr val="5A6B7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718408" y="2788920"/>
            <a:ext cx="4754880" cy="868680"/>
          </a:xfrm>
          <a:prstGeom prst="roundRect">
            <a:avLst>
              <a:gd name="adj" fmla="val 10526"/>
            </a:avLst>
          </a:prstGeom>
          <a:solidFill>
            <a:srgbClr val="20C5B7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304495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95648" y="289864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6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8090 · entrada única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095848" y="3657600"/>
            <a:ext cx="0" cy="228600"/>
          </a:xfrm>
          <a:prstGeom prst="line">
            <a:avLst/>
          </a:prstGeom>
          <a:noFill/>
          <a:ln w="19050">
            <a:solidFill>
              <a:srgbClr val="5A6B7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766060" y="3886200"/>
            <a:ext cx="3329788" cy="0"/>
          </a:xfrm>
          <a:prstGeom prst="line">
            <a:avLst/>
          </a:prstGeom>
          <a:noFill/>
          <a:ln w="19050">
            <a:solidFill>
              <a:srgbClr val="5A6B7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095848" y="3886200"/>
            <a:ext cx="3329788" cy="0"/>
          </a:xfrm>
          <a:prstGeom prst="line">
            <a:avLst/>
          </a:prstGeom>
          <a:noFill/>
          <a:ln w="19050">
            <a:solidFill>
              <a:srgbClr val="5A6B7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766060" y="3886200"/>
            <a:ext cx="0" cy="411480"/>
          </a:xfrm>
          <a:prstGeom prst="line">
            <a:avLst/>
          </a:prstGeom>
          <a:noFill/>
          <a:ln w="19050">
            <a:solidFill>
              <a:srgbClr val="5A6B7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425635" y="3886200"/>
            <a:ext cx="0" cy="411480"/>
          </a:xfrm>
          <a:prstGeom prst="line">
            <a:avLst/>
          </a:prstGeom>
          <a:noFill/>
          <a:ln w="19050">
            <a:solidFill>
              <a:srgbClr val="5A6B7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4297680"/>
            <a:ext cx="3794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143000" y="4590288"/>
            <a:ext cx="713232" cy="713232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36" y="4764024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011680" y="45537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(core)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2011680" y="49011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8080  ·  banco gruapim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161288" y="532180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Projetos, Sprints, Kanban e integração com Git.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528255" y="4297680"/>
            <a:ext cx="3794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802575" y="4590288"/>
            <a:ext cx="713232" cy="713232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6311" y="4764024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671255" y="45537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Collaboration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8671255" y="49011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8081  ·  banco gruapim_collab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820863" y="532180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notificações e atas de reunião — a parte extraída.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663440" y="5093208"/>
            <a:ext cx="357988" cy="0"/>
          </a:xfrm>
          <a:prstGeom prst="line">
            <a:avLst/>
          </a:prstGeom>
          <a:noFill/>
          <a:ln w="19050">
            <a:solidFill>
              <a:srgbClr val="2E8BC0"/>
            </a:solidFill>
            <a:prstDash val="dash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7170268" y="5093208"/>
            <a:ext cx="357988" cy="0"/>
          </a:xfrm>
          <a:prstGeom prst="line">
            <a:avLst/>
          </a:prstGeom>
          <a:noFill/>
          <a:ln w="19050">
            <a:solidFill>
              <a:srgbClr val="2E8BC0"/>
            </a:solidFill>
            <a:prstDash val="dash"/>
            <a:tailEnd type="triangle"/>
          </a:ln>
        </p:spPr>
      </p:sp>
      <p:sp>
        <p:nvSpPr>
          <p:cNvPr id="30" name="Shape 24"/>
          <p:cNvSpPr/>
          <p:nvPr/>
        </p:nvSpPr>
        <p:spPr>
          <a:xfrm>
            <a:off x="5021428" y="4681728"/>
            <a:ext cx="2148840" cy="822960"/>
          </a:xfrm>
          <a:prstGeom prst="roundRect">
            <a:avLst>
              <a:gd name="adj" fmla="val 11111"/>
            </a:avLst>
          </a:prstGeom>
          <a:solidFill>
            <a:srgbClr val="163A5B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0884" y="4910328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734660" y="475488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“correio” de eventos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3741268" y="429768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evento  →  cria notificação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20C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INTEGRAÇÃO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04672" y="84124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os serviços conversam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61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240280"/>
            <a:ext cx="822960" cy="822960"/>
          </a:xfrm>
          <a:prstGeom prst="ellipse">
            <a:avLst/>
          </a:prstGeom>
          <a:solidFill>
            <a:srgbClr val="2E8BC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" y="245973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40280" y="2185416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 — a recepção do prédio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2240280" y="260604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conhece só um endereço. O gateway olha o caminho da requisição e encaminha para o serviço certo. Para o cliente, parece um sistema só.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22960" y="3502152"/>
            <a:ext cx="10561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143000" y="3776472"/>
            <a:ext cx="822960" cy="822960"/>
          </a:xfrm>
          <a:prstGeom prst="ellipse">
            <a:avLst/>
          </a:prstGeom>
          <a:solidFill>
            <a:srgbClr val="20C5B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456" y="399592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40280" y="3721608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compartilhado — o crachá de confiança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2240280" y="4142232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backend faz o login e emite um “crachá” digital assinado. O outro serviço só confere a assinatura — não refaz o login nem consulta o banco.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22960" y="5038344"/>
            <a:ext cx="10561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143000" y="5312664"/>
            <a:ext cx="822960" cy="822960"/>
          </a:xfrm>
          <a:prstGeom prst="ellipse">
            <a:avLst/>
          </a:prstGeom>
          <a:solidFill>
            <a:srgbClr val="E0A23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456" y="553212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240280" y="525780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RabbitMQ — o correio assíncrono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2240280" y="5678424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uma tarefa é atribuída, o backend “posta uma carta” na fila. O serviço de colaboração lê e cria a notificação. Os dois ficam desacoplados.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20C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PONTOS FORTES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04672" y="84124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conceitos para “vender” a arquitetura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3383280" cy="1783080"/>
          </a:xfrm>
          <a:prstGeom prst="roundRect">
            <a:avLst>
              <a:gd name="adj" fmla="val 5128"/>
            </a:avLst>
          </a:prstGeom>
          <a:solidFill>
            <a:srgbClr val="163A5B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5568" y="2185416"/>
            <a:ext cx="713232" cy="713232"/>
          </a:xfrm>
          <a:prstGeom prst="ellipse">
            <a:avLst/>
          </a:prstGeom>
          <a:solidFill>
            <a:srgbClr val="0F2A43"/>
          </a:solidFill>
          <a:ln w="15240">
            <a:solidFill>
              <a:srgbClr val="20C5B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304" y="235915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16712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Strangler Fig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33856" y="2953512"/>
            <a:ext cx="2779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gradual, sem parar o sistema.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17720" y="1874520"/>
            <a:ext cx="3383280" cy="1783080"/>
          </a:xfrm>
          <a:prstGeom prst="roundRect">
            <a:avLst>
              <a:gd name="adj" fmla="val 5128"/>
            </a:avLst>
          </a:prstGeom>
          <a:solidFill>
            <a:srgbClr val="163A5B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10328" y="2185416"/>
            <a:ext cx="713232" cy="713232"/>
          </a:xfrm>
          <a:prstGeom prst="ellipse">
            <a:avLst/>
          </a:prstGeom>
          <a:solidFill>
            <a:srgbClr val="0F2A43"/>
          </a:solidFill>
          <a:ln w="15240">
            <a:solidFill>
              <a:srgbClr val="20C5B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064" y="235915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60720" y="216712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per service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928616" y="2953512"/>
            <a:ext cx="2779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serviço é dono do seu banco.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412480" y="1874520"/>
            <a:ext cx="3383280" cy="1783080"/>
          </a:xfrm>
          <a:prstGeom prst="roundRect">
            <a:avLst>
              <a:gd name="adj" fmla="val 5128"/>
            </a:avLst>
          </a:prstGeom>
          <a:solidFill>
            <a:srgbClr val="163A5B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705088" y="2185416"/>
            <a:ext cx="713232" cy="713232"/>
          </a:xfrm>
          <a:prstGeom prst="ellipse">
            <a:avLst/>
          </a:prstGeom>
          <a:solidFill>
            <a:srgbClr val="0F2A43"/>
          </a:solidFill>
          <a:ln w="15240">
            <a:solidFill>
              <a:srgbClr val="20C5B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4" y="235915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555480" y="216712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compartilhado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723376" y="2953512"/>
            <a:ext cx="2779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 entre serviços sem refazer login.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22960" y="4023360"/>
            <a:ext cx="3383280" cy="1783080"/>
          </a:xfrm>
          <a:prstGeom prst="roundRect">
            <a:avLst>
              <a:gd name="adj" fmla="val 5128"/>
            </a:avLst>
          </a:prstGeom>
          <a:solidFill>
            <a:srgbClr val="163A5B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115568" y="4334256"/>
            <a:ext cx="713232" cy="713232"/>
          </a:xfrm>
          <a:prstGeom prst="ellipse">
            <a:avLst/>
          </a:prstGeom>
          <a:solidFill>
            <a:srgbClr val="0F2A43"/>
          </a:solidFill>
          <a:ln w="15240">
            <a:solidFill>
              <a:srgbClr val="20C5B7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304" y="450799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965960" y="431596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Event-driven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1133856" y="5102352"/>
            <a:ext cx="2779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se avisam por eventos, não chamadas diretas.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617720" y="4023360"/>
            <a:ext cx="3383280" cy="1783080"/>
          </a:xfrm>
          <a:prstGeom prst="roundRect">
            <a:avLst>
              <a:gd name="adj" fmla="val 5128"/>
            </a:avLst>
          </a:prstGeom>
          <a:solidFill>
            <a:srgbClr val="163A5B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910328" y="4334256"/>
            <a:ext cx="713232" cy="713232"/>
          </a:xfrm>
          <a:prstGeom prst="ellipse">
            <a:avLst/>
          </a:prstGeom>
          <a:solidFill>
            <a:srgbClr val="0F2A43"/>
          </a:solidFill>
          <a:ln w="15240">
            <a:solidFill>
              <a:srgbClr val="20C5B7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4064" y="4507992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760720" y="431596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Resiliência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4928616" y="5102352"/>
            <a:ext cx="2779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correio falha, o core não cai (retry + circuit breaker).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412480" y="4023360"/>
            <a:ext cx="3383280" cy="1783080"/>
          </a:xfrm>
          <a:prstGeom prst="roundRect">
            <a:avLst>
              <a:gd name="adj" fmla="val 5128"/>
            </a:avLst>
          </a:prstGeom>
          <a:solidFill>
            <a:srgbClr val="163A5B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705088" y="4334256"/>
            <a:ext cx="713232" cy="713232"/>
          </a:xfrm>
          <a:prstGeom prst="ellipse">
            <a:avLst/>
          </a:prstGeom>
          <a:solidFill>
            <a:srgbClr val="0F2A43"/>
          </a:solidFill>
          <a:ln w="15240">
            <a:solidFill>
              <a:srgbClr val="20C5B7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8824" y="4507992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555480" y="431596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Observabilidade</a:t>
            </a:r>
            <a:endParaRPr lang="en-US" sz="1800" dirty="0"/>
          </a:p>
        </p:txBody>
      </p:sp>
      <p:sp>
        <p:nvSpPr>
          <p:cNvPr id="33" name="Text 25"/>
          <p:cNvSpPr/>
          <p:nvPr/>
        </p:nvSpPr>
        <p:spPr>
          <a:xfrm>
            <a:off x="8723376" y="5102352"/>
            <a:ext cx="2779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Prometheus + correlation-id em tudo.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20C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FICHA TÉCNICA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04672" y="84124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Tecnologias usadas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8992" y="2148840"/>
            <a:ext cx="603504" cy="603504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228600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75688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0" y="2423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 ·  Spring Boot 3.3  ·  Maven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874520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19472" y="2148840"/>
            <a:ext cx="603504" cy="603504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228600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2075688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669280" y="2423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Gateway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503920" y="1874520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759952" y="2148840"/>
            <a:ext cx="603504" cy="603504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7112" y="228600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509760" y="2075688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509760" y="2423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(1 por serviço)  ·  Flyway (migrations)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22960" y="3447288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78992" y="3721608"/>
            <a:ext cx="603504" cy="603504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152" y="385876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28800" y="3648456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Mensageria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828800" y="39959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 ·  Spring AMQP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663440" y="3447288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919472" y="3721608"/>
            <a:ext cx="603504" cy="603504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6632" y="385876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669280" y="3648456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 real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5669280" y="39959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/ STOMP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503920" y="3447288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759952" y="3721608"/>
            <a:ext cx="603504" cy="603504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7112" y="3858768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509760" y="3648456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9509760" y="39959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 ·  JWT (HS256)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822960" y="5020056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078992" y="5294376"/>
            <a:ext cx="603504" cy="603504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6152" y="5431536"/>
            <a:ext cx="329184" cy="32918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828800" y="5221224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Resiliência</a:t>
            </a:r>
            <a:endParaRPr lang="en-US" sz="1600" dirty="0"/>
          </a:p>
        </p:txBody>
      </p:sp>
      <p:sp>
        <p:nvSpPr>
          <p:cNvPr id="38" name="Text 29"/>
          <p:cNvSpPr/>
          <p:nvPr/>
        </p:nvSpPr>
        <p:spPr>
          <a:xfrm>
            <a:off x="1828800" y="556869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Resilience4j  ·  retry + circuit breaker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4663440" y="5020056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919472" y="5294376"/>
            <a:ext cx="603504" cy="603504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6632" y="5431536"/>
            <a:ext cx="329184" cy="32918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669280" y="5221224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Observabilidade</a:t>
            </a:r>
            <a:endParaRPr lang="en-US" sz="1600" dirty="0"/>
          </a:p>
        </p:txBody>
      </p:sp>
      <p:sp>
        <p:nvSpPr>
          <p:cNvPr id="43" name="Text 33"/>
          <p:cNvSpPr/>
          <p:nvPr/>
        </p:nvSpPr>
        <p:spPr>
          <a:xfrm>
            <a:off x="5669280" y="556869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 ·  Prometheus</a:t>
            </a:r>
            <a:endParaRPr lang="en-US" sz="1200" dirty="0"/>
          </a:p>
        </p:txBody>
      </p:sp>
      <p:sp>
        <p:nvSpPr>
          <p:cNvPr id="44" name="Shape 34"/>
          <p:cNvSpPr/>
          <p:nvPr/>
        </p:nvSpPr>
        <p:spPr>
          <a:xfrm>
            <a:off x="8503920" y="5020056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8759952" y="5294376"/>
            <a:ext cx="603504" cy="603504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97112" y="5431536"/>
            <a:ext cx="329184" cy="329184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9509760" y="5221224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Orquestração</a:t>
            </a:r>
            <a:endParaRPr lang="en-US" sz="1600" dirty="0"/>
          </a:p>
        </p:txBody>
      </p:sp>
      <p:sp>
        <p:nvSpPr>
          <p:cNvPr id="48" name="Text 37"/>
          <p:cNvSpPr/>
          <p:nvPr/>
        </p:nvSpPr>
        <p:spPr>
          <a:xfrm>
            <a:off x="9509760" y="556869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20C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04672" y="84124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Perguntas prováveis da banca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2852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020824"/>
            <a:ext cx="4782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C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 </a:t>
            </a:r>
            <a:pPr indent="0" marL="0">
              <a:buNone/>
            </a:pPr>
            <a:r>
              <a:rPr lang="en-US" sz="14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deixaram tudo monólito?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4782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escalar e evoluir a comunicação de forma independente — e para que uma falha no chat não derrube o produto principal.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73952" y="1874520"/>
            <a:ext cx="52852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48272" y="2020824"/>
            <a:ext cx="4782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C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 </a:t>
            </a:r>
            <a:pPr indent="0" marL="0">
              <a:buNone/>
            </a:pPr>
            <a:r>
              <a:rPr lang="en-US" sz="14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extraíram só um serviço?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748272" y="2423160"/>
            <a:ext cx="4782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Strangler Fig: extração gradual e segura. Começa-se pelo de maior ganho e prova-se o modelo antes de seguir.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383280"/>
            <a:ext cx="52852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3529584"/>
            <a:ext cx="4782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C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 </a:t>
            </a:r>
            <a:pPr indent="0" marL="0">
              <a:buNone/>
            </a:pPr>
            <a:r>
              <a:rPr lang="en-US" sz="14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 serviço confia no outro?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097280" y="3931920"/>
            <a:ext cx="4782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com segredo compartilhado: o backend assina o token, o outro só valida a assinatura. Sem chamada de rede.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73952" y="3383280"/>
            <a:ext cx="52852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48272" y="3529584"/>
            <a:ext cx="4782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C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 </a:t>
            </a:r>
            <a:pPr indent="0" marL="0">
              <a:buNone/>
            </a:pPr>
            <a:r>
              <a:rPr lang="en-US" sz="14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se o RabbitMQ cair?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748272" y="3931920"/>
            <a:ext cx="4782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backend tem retry + circuit breaker; não trava. O core continua e as notificações degradam de forma graciosa.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892040"/>
            <a:ext cx="52852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97280" y="5038344"/>
            <a:ext cx="4782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C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 </a:t>
            </a:r>
            <a:pPr indent="0" marL="0">
              <a:buNone/>
            </a:pPr>
            <a:r>
              <a:rPr lang="en-US" sz="14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serviços compartilham banco?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097280" y="5440680"/>
            <a:ext cx="4782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Não. Database per service — cada um é dono dos seus dados, sem chave estrangeira cruzando a fronteira.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73952" y="4892040"/>
            <a:ext cx="52852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48272" y="5038344"/>
            <a:ext cx="4782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C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 </a:t>
            </a:r>
            <a:pPr indent="0" marL="0">
              <a:buNone/>
            </a:pPr>
            <a:r>
              <a:rPr lang="en-US" sz="14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cliente lida com 3 serviços?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748272" y="5440680"/>
            <a:ext cx="4782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não lida: fala só com o Gateway (uma URL). O roteamento é transparente.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20C5B7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023360"/>
            <a:ext cx="4206240" cy="4206240"/>
          </a:xfrm>
          <a:prstGeom prst="ellipse">
            <a:avLst/>
          </a:prstGeom>
          <a:solidFill>
            <a:srgbClr val="2E8BC0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0C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FRASE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i="1" dirty="0">
                <a:solidFill>
                  <a:srgbClr val="D6E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Pegamos um sistema que era </a:t>
            </a:r>
            <a:pPr indent="0" marL="0">
              <a:lnSpc>
                <a:spcPts val="4200"/>
              </a:lnSpc>
              <a:buNone/>
            </a:pPr>
            <a:r>
              <a:rPr lang="en-US" sz="3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bloco só</a:t>
            </a:r>
            <a:pPr indent="0" marL="0">
              <a:lnSpc>
                <a:spcPts val="4200"/>
              </a:lnSpc>
              <a:buNone/>
            </a:pPr>
            <a:r>
              <a:rPr lang="en-US" sz="3300" i="1" dirty="0">
                <a:solidFill>
                  <a:srgbClr val="D6E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o transformamos em </a:t>
            </a:r>
            <a:pPr indent="0" marL="0">
              <a:lnSpc>
                <a:spcPts val="4200"/>
              </a:lnSpc>
              <a:buNone/>
            </a:pPr>
            <a:r>
              <a:rPr lang="en-US" sz="3300" b="1" i="1" dirty="0">
                <a:solidFill>
                  <a:srgbClr val="20C5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serviços independentes</a:t>
            </a:r>
            <a:pPr indent="0" marL="0">
              <a:lnSpc>
                <a:spcPts val="4200"/>
              </a:lnSpc>
              <a:buNone/>
            </a:pPr>
            <a:r>
              <a:rPr lang="en-US" sz="3300" i="1" dirty="0">
                <a:solidFill>
                  <a:srgbClr val="D6E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que conversam com segurança e não derrubam uns aos outros.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68680" y="416052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63A5B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42976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0C5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1161288" y="5074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07992" y="416052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63A5B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82312" y="42976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0C5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800600" y="5074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 de dados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47304" y="416052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63A5B"/>
          </a:solidFill>
          <a:ln/>
          <a:effectLst>
            <a:outerShdw sx="100000" sy="100000" kx="0" ky="0" algn="bl" rotWithShape="0" blurRad="114300" dist="38100" dir="5400000">
              <a:srgbClr val="0B1722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21624" y="42976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0C5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8/8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439912" y="5074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concluídas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6126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GRUAPIM · Arquitetura de Microsserviços · Grupo 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GRUAPIM — De Monólito a Microsserviços</dc:title>
  <dc:subject>PptxGenJS Presentation</dc:subject>
  <dc:creator>Grupo 6</dc:creator>
  <cp:lastModifiedBy>Grupo 6</cp:lastModifiedBy>
  <cp:revision>1</cp:revision>
  <dcterms:created xsi:type="dcterms:W3CDTF">2026-06-30T23:54:52Z</dcterms:created>
  <dcterms:modified xsi:type="dcterms:W3CDTF">2026-06-30T23:54:52Z</dcterms:modified>
</cp:coreProperties>
</file>